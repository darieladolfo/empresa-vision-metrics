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Urbanist" panose="020B0604020202020204" charset="0"/>
      <p:regular r:id="rId12"/>
      <p:bold r:id="rId13"/>
      <p:italic r:id="rId14"/>
      <p:boldItalic r:id="rId15"/>
    </p:embeddedFont>
    <p:embeddedFont>
      <p:font typeface="Urbanist Light" panose="020B0604020202020204" charset="0"/>
      <p:regular r:id="rId16"/>
      <p:bold r:id="rId17"/>
      <p:italic r:id="rId18"/>
      <p:boldItalic r:id="rId19"/>
    </p:embeddedFont>
    <p:embeddedFont>
      <p:font typeface="Urbanist SemiBold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33500" y="571500"/>
            <a:ext cx="10096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Vision Metrics</a:t>
            </a:r>
            <a:endParaRPr dirty="0"/>
          </a:p>
        </p:txBody>
      </p:sp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715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62000" y="2220087"/>
            <a:ext cx="11201400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 Datos a </a:t>
            </a:r>
            <a:r>
              <a:rPr lang="en-US" sz="54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Decisiones</a:t>
            </a:r>
            <a:r>
              <a:rPr lang="en-US" sz="54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La </a:t>
            </a:r>
            <a:r>
              <a:rPr lang="en-US" sz="54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Arquitectura</a:t>
            </a:r>
            <a:r>
              <a:rPr lang="en-US" sz="54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de la </a:t>
            </a:r>
            <a:r>
              <a:rPr lang="en-US" sz="5400" b="1" i="0" u="none" strike="noStrike" cap="none" dirty="0" err="1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Rentabilidad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5494139"/>
            <a:ext cx="85725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Cómo transformar el caos de información de tu empresa en control operativo, reducción de costos y lealtad del cliente.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5C918E1-6AEC-81EF-16C0-209EC2AC78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3624" y="-592950"/>
            <a:ext cx="2238376" cy="23288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279350"/>
            <a:ext cx="48006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El Costo de Liderar a </a:t>
            </a: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Ciegas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52450" y="1515403"/>
            <a:ext cx="59245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Tomar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decisiones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estratégicas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basándose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en la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intuición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ya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no es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sostenible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El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caos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datos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está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costando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dinero real a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tu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empresa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1133475" y="3092648"/>
            <a:ext cx="42005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Decisiones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tardías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Dependencia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reportes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en Excel a fin de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mes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1133475" y="3892748"/>
            <a:ext cx="42005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Analisis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que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no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dicen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nada: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Sin power bi, sin </a:t>
            </a:r>
            <a:r>
              <a:rPr lang="en-US" sz="1500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tableros</a:t>
            </a:r>
            <a:r>
              <a:rPr lang="en-US" sz="15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claros </a:t>
            </a:r>
            <a:r>
              <a:rPr lang="en-US" sz="1500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ni</a:t>
            </a:r>
            <a:r>
              <a:rPr lang="en-US" sz="15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KPI’s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1133475" y="4692848"/>
            <a:ext cx="42005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Márgenes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ocultos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Desconocimiento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la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rentabilidad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real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por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operación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1133475" y="5492948"/>
            <a:ext cx="42005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Sordera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ante el cliente: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Incapacidad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medir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el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verdadero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nivel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satisfacción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(NPS).</a:t>
            </a:r>
            <a:endParaRPr dirty="0"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26112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04514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86429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65189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96075" y="981076"/>
            <a:ext cx="5495925" cy="587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EDD08F32-8362-DB79-1859-5D4DEB8FEF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1699" y="-813496"/>
            <a:ext cx="2238376" cy="23288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98290"/>
            <a:ext cx="5048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62000" y="1936998"/>
            <a:ext cx="5300662" cy="1234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No hacemos "gráficos bonitos". Construimos Arquitecturas de Decisiones.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62000" y="3361580"/>
            <a:ext cx="50482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 Vision Metrics somos consultores de negocios técnicos. Entendemos que la tecnología es solo el medio; el objetivo final es tu rentabilidad.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62000" y="4605188"/>
            <a:ext cx="5048250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Nos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especializamos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en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limpiar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transforma</a:t>
            </a:r>
            <a:r>
              <a:rPr lang="en-US" sz="1650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tus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datos en </a:t>
            </a:r>
            <a:r>
              <a:rPr lang="en-US" sz="1650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ableros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/Dashboards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ejecutivos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modelos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predictivos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65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 </a:t>
            </a:r>
            <a:r>
              <a:rPr lang="en-US" sz="1650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clasificación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alta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precisión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807815"/>
            <a:ext cx="50292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62000" y="571500"/>
            <a:ext cx="112014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El Enfoque </a:t>
            </a: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Vision Metrics</a:t>
            </a:r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71664D7-8E5D-4C51-D296-1C47A2B7D4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3624" y="-592950"/>
            <a:ext cx="2238376" cy="23288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028825"/>
            <a:ext cx="3365450" cy="3825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028825"/>
            <a:ext cx="3365450" cy="3825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028825"/>
            <a:ext cx="3365599" cy="3825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24193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1057275" y="3228975"/>
            <a:ext cx="291364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Gestión Logística y Flotas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057275" y="3646140"/>
            <a:ext cx="2774900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Pasamos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del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rastreo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básico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al control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financiero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Comparamos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el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consumo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combustible,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costos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mantenimiento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peajes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contra el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ingreso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del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flete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auditar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el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desempeño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en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tiempo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real.</a:t>
            </a:r>
            <a:endParaRPr dirty="0"/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08475" y="24193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4708475" y="3228975"/>
            <a:ext cx="291364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Inteligencia de Voz del Cliente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4708475" y="3920430"/>
            <a:ext cx="2774900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Implementamos modelos de Procesamiento de Lenguaje Natural (NLP) que leen y clasifican automáticamente miles de quejas y elogios, revelando oportunidades ocultas de retención.</a:t>
            </a:r>
            <a:endParaRPr/>
          </a:p>
        </p:txBody>
      </p:sp>
      <p:pic>
        <p:nvPicPr>
          <p:cNvPr id="130" name="Google Shape;13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24193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8359675" y="3228975"/>
            <a:ext cx="2913801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Herramientas Web Operativas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359675" y="3920430"/>
            <a:ext cx="2775049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Creamos web apps interactivas a medida con Streamlit. Desde simuladores predictivos de fallas y calculadoras de rentabilidad, hasta generadores automáticos de diagramas de Ishikawa.</a:t>
            </a:r>
            <a:endParaRPr/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76337" y="2571750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27537" y="2571750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78738" y="257175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762000" y="571500"/>
            <a:ext cx="112014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Inteligencia Aplicada a </a:t>
            </a: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Problemas Reales</a:t>
            </a:r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7F753DF-0B55-E87A-9970-7B233BDC935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53624" y="-592950"/>
            <a:ext cx="2238376" cy="23288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44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6766" y="853375"/>
            <a:ext cx="9525000" cy="119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26766" y="2226510"/>
            <a:ext cx="9482497" cy="124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26766" y="3584593"/>
            <a:ext cx="9525000" cy="1375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26766" y="5068632"/>
            <a:ext cx="9525000" cy="1375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1423934" y="1304739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01</a:t>
            </a:r>
            <a:endParaRPr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1383886" y="2678361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02</a:t>
            </a:r>
            <a:endParaRPr dirty="0"/>
          </a:p>
        </p:txBody>
      </p:sp>
      <p:sp>
        <p:nvSpPr>
          <p:cNvPr id="148" name="Google Shape;148;p17"/>
          <p:cNvSpPr txBox="1"/>
          <p:nvPr/>
        </p:nvSpPr>
        <p:spPr>
          <a:xfrm>
            <a:off x="1383886" y="4084783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03</a:t>
            </a:r>
            <a:endParaRPr dirty="0"/>
          </a:p>
        </p:txBody>
      </p:sp>
      <p:sp>
        <p:nvSpPr>
          <p:cNvPr id="149" name="Google Shape;149;p17"/>
          <p:cNvSpPr txBox="1"/>
          <p:nvPr/>
        </p:nvSpPr>
        <p:spPr>
          <a:xfrm>
            <a:off x="1383886" y="5542318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04</a:t>
            </a:r>
            <a:endParaRPr dirty="0"/>
          </a:p>
        </p:txBody>
      </p:sp>
      <p:sp>
        <p:nvSpPr>
          <p:cNvPr id="150" name="Google Shape;150;p17"/>
          <p:cNvSpPr txBox="1"/>
          <p:nvPr/>
        </p:nvSpPr>
        <p:spPr>
          <a:xfrm>
            <a:off x="1847850" y="927325"/>
            <a:ext cx="866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Diagnóstico</a:t>
            </a:r>
            <a:r>
              <a:rPr lang="en-US" sz="18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Negocio</a:t>
            </a:r>
            <a:r>
              <a:rPr lang="en-US" sz="18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y Datos</a:t>
            </a:r>
            <a:endParaRPr dirty="0"/>
          </a:p>
        </p:txBody>
      </p:sp>
      <p:sp>
        <p:nvSpPr>
          <p:cNvPr id="151" name="Google Shape;151;p17"/>
          <p:cNvSpPr txBox="1"/>
          <p:nvPr/>
        </p:nvSpPr>
        <p:spPr>
          <a:xfrm>
            <a:off x="1866900" y="1256473"/>
            <a:ext cx="86610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Auditamos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tus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procesos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fuentes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información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(ERP, Excel, SQL) para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definir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los KPIs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que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realmente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impactan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tu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flujo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caja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1847850" y="2271751"/>
            <a:ext cx="8661082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Preparación</a:t>
            </a:r>
            <a:r>
              <a:rPr lang="en-US" sz="18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y Modelado (ETL)</a:t>
            </a:r>
            <a:endParaRPr dirty="0"/>
          </a:p>
        </p:txBody>
      </p:sp>
      <p:sp>
        <p:nvSpPr>
          <p:cNvPr id="153" name="Google Shape;153;p17"/>
          <p:cNvSpPr txBox="1"/>
          <p:nvPr/>
        </p:nvSpPr>
        <p:spPr>
          <a:xfrm>
            <a:off x="1922006" y="2627324"/>
            <a:ext cx="82486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Extraemos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limpiamos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estructuramos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tu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caos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datos para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construir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una base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sólida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confiable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y de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actualización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automática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54" name="Google Shape;154;p17"/>
          <p:cNvSpPr txBox="1"/>
          <p:nvPr/>
        </p:nvSpPr>
        <p:spPr>
          <a:xfrm>
            <a:off x="1809668" y="3702410"/>
            <a:ext cx="8661082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Desarrollo de Dashboards y KPIs</a:t>
            </a:r>
            <a:endParaRPr dirty="0"/>
          </a:p>
        </p:txBody>
      </p:sp>
      <p:sp>
        <p:nvSpPr>
          <p:cNvPr id="155" name="Google Shape;155;p17"/>
          <p:cNvSpPr txBox="1"/>
          <p:nvPr/>
        </p:nvSpPr>
        <p:spPr>
          <a:xfrm>
            <a:off x="1922006" y="4084783"/>
            <a:ext cx="82486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Diseñamos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tableros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en Power BI con un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enfoque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100%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gerencial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: claros,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intuitivos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orientados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 la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acción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inmediata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56" name="Google Shape;156;p17"/>
          <p:cNvSpPr txBox="1"/>
          <p:nvPr/>
        </p:nvSpPr>
        <p:spPr>
          <a:xfrm>
            <a:off x="1866818" y="5151607"/>
            <a:ext cx="8661082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Implementación</a:t>
            </a:r>
            <a:r>
              <a:rPr lang="en-US" sz="18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8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Validación</a:t>
            </a:r>
            <a:endParaRPr dirty="0"/>
          </a:p>
        </p:txBody>
      </p:sp>
      <p:sp>
        <p:nvSpPr>
          <p:cNvPr id="157" name="Google Shape;157;p17"/>
          <p:cNvSpPr txBox="1"/>
          <p:nvPr/>
        </p:nvSpPr>
        <p:spPr>
          <a:xfrm>
            <a:off x="1907275" y="5456407"/>
            <a:ext cx="824865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Desplegamos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la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solución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en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tu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entorno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corporativo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validamos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las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cifras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con los stakeholders para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garantizar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precisión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58" name="Google Shape;158;p17"/>
          <p:cNvSpPr txBox="1"/>
          <p:nvPr/>
        </p:nvSpPr>
        <p:spPr>
          <a:xfrm>
            <a:off x="778100" y="73375"/>
            <a:ext cx="112014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Nuestr</a:t>
            </a:r>
            <a:r>
              <a:rPr lang="en-US" sz="36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 </a:t>
            </a:r>
            <a:r>
              <a:rPr lang="en-US" sz="3600" b="1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Metodologia</a:t>
            </a:r>
            <a:r>
              <a:rPr lang="en-US" sz="36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 </a:t>
            </a:r>
            <a:r>
              <a:rPr lang="en-US" sz="36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Implementación</a:t>
            </a:r>
            <a:endParaRPr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B726416-8163-4F5C-E6EA-5C645177E6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1774" y="-789734"/>
            <a:ext cx="2238376" cy="23288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691580"/>
            <a:ext cx="3365450" cy="389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9064" y="1596665"/>
            <a:ext cx="3533722" cy="3986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691580"/>
            <a:ext cx="3365599" cy="389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1057275" y="1985962"/>
            <a:ext cx="27749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FASE 1</a:t>
            </a:r>
            <a:endParaRPr dirty="0"/>
          </a:p>
        </p:txBody>
      </p:sp>
      <p:sp>
        <p:nvSpPr>
          <p:cNvPr id="168" name="Google Shape;168;p18"/>
          <p:cNvSpPr txBox="1"/>
          <p:nvPr/>
        </p:nvSpPr>
        <p:spPr>
          <a:xfrm>
            <a:off x="1057275" y="2314518"/>
            <a:ext cx="291364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Implementación</a:t>
            </a:r>
            <a:r>
              <a:rPr lang="en-US" sz="2100" b="1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BI</a:t>
            </a:r>
            <a:endParaRPr dirty="0"/>
          </a:p>
        </p:txBody>
      </p:sp>
      <p:sp>
        <p:nvSpPr>
          <p:cNvPr id="170" name="Google Shape;170;p18"/>
          <p:cNvSpPr txBox="1"/>
          <p:nvPr/>
        </p:nvSpPr>
        <p:spPr>
          <a:xfrm>
            <a:off x="1057275" y="2862373"/>
            <a:ext cx="2774900" cy="1558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50" dirty="0" err="1">
                <a:solidFill>
                  <a:srgbClr val="CBD5E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Arquitectura</a:t>
            </a:r>
            <a:r>
              <a:rPr lang="en-US" sz="1350" dirty="0">
                <a:solidFill>
                  <a:srgbClr val="CBD5E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y Visibilidad</a:t>
            </a:r>
            <a:endParaRPr lang="en-US" sz="12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El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cimiento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la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toma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decisions</a:t>
            </a:r>
            <a:r>
              <a:rPr lang="en-US" sz="135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conexión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con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tu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Sistemas y BD.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Diseño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los Dashboards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iniciales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en Power BI..</a:t>
            </a:r>
            <a:r>
              <a:rPr lang="en-US" sz="135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4639101" y="1981437"/>
            <a:ext cx="2913645" cy="19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FASE 2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4657290" y="2306518"/>
            <a:ext cx="3059327" cy="335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Retainer </a:t>
            </a:r>
            <a:r>
              <a:rPr lang="en-US" sz="2100" b="1" i="0" u="none" strike="noStrike" cap="none" dirty="0" err="1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Estratégico</a:t>
            </a:r>
            <a:endParaRPr dirty="0"/>
          </a:p>
        </p:txBody>
      </p:sp>
      <p:sp>
        <p:nvSpPr>
          <p:cNvPr id="174" name="Google Shape;174;p18"/>
          <p:cNvSpPr txBox="1"/>
          <p:nvPr/>
        </p:nvSpPr>
        <p:spPr>
          <a:xfrm>
            <a:off x="4657290" y="2857670"/>
            <a:ext cx="2913645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50" dirty="0" err="1">
                <a:solidFill>
                  <a:srgbClr val="CBD5E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Mantenimiento</a:t>
            </a:r>
            <a:r>
              <a:rPr lang="en-US" sz="1350" dirty="0">
                <a:solidFill>
                  <a:srgbClr val="CBD5E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y </a:t>
            </a:r>
            <a:r>
              <a:rPr lang="en-US" sz="1350" dirty="0" err="1">
                <a:solidFill>
                  <a:srgbClr val="CBD5E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Soporte</a:t>
            </a:r>
            <a:endParaRPr lang="en-US" sz="12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Tu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departamento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datos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externalizado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Mantenimiento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continuo,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optimización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rendimiento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actualizaciones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proactivas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desarrollo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nuevos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requerimientos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según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crezca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tu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operación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75" name="Google Shape;175;p18"/>
          <p:cNvSpPr txBox="1"/>
          <p:nvPr/>
        </p:nvSpPr>
        <p:spPr>
          <a:xfrm>
            <a:off x="8297763" y="1981437"/>
            <a:ext cx="277504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B5CF6"/>
                </a:solidFill>
                <a:latin typeface="Urbanist"/>
                <a:ea typeface="Urbanist"/>
                <a:cs typeface="Urbanist"/>
                <a:sym typeface="Urbanist"/>
              </a:rPr>
              <a:t>FASE 3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359675" y="2305287"/>
            <a:ext cx="2913801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IA &amp; </a:t>
            </a:r>
            <a:r>
              <a:rPr lang="en-US" sz="2100" b="1" i="0" u="none" strike="noStrike" cap="none" dirty="0" err="1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Predictiva</a:t>
            </a:r>
            <a:endParaRPr dirty="0"/>
          </a:p>
        </p:txBody>
      </p:sp>
      <p:sp>
        <p:nvSpPr>
          <p:cNvPr id="178" name="Google Shape;178;p18"/>
          <p:cNvSpPr txBox="1"/>
          <p:nvPr/>
        </p:nvSpPr>
        <p:spPr>
          <a:xfrm>
            <a:off x="8359675" y="2857670"/>
            <a:ext cx="2775049" cy="2181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50" dirty="0">
                <a:solidFill>
                  <a:srgbClr val="CBD5E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Automatización </a:t>
            </a:r>
            <a:r>
              <a:rPr lang="en-US" sz="1350" dirty="0" err="1">
                <a:solidFill>
                  <a:srgbClr val="CBD5E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Avanzada</a:t>
            </a:r>
            <a:endParaRPr lang="en-US" sz="12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El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salto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hacia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el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futuro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Modelos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Machine Learning con Python,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algoritmos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predicción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demanda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/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fallas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clasificación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automática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(NLP) y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desarrollo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Web Apps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analíticas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operativas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79" name="Google Shape;179;p18"/>
          <p:cNvSpPr txBox="1"/>
          <p:nvPr/>
        </p:nvSpPr>
        <p:spPr>
          <a:xfrm>
            <a:off x="762000" y="571500"/>
            <a:ext cx="112014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Modelos de </a:t>
            </a: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Inversión Corporativa</a:t>
            </a:r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FD9FA27-4ECC-65DC-40DF-D6C3D0674B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3624" y="-592950"/>
            <a:ext cx="2238376" cy="232889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23F8C7E-5F0B-E098-717C-7D0B511C5A4C}"/>
              </a:ext>
            </a:extLst>
          </p:cNvPr>
          <p:cNvSpPr txBox="1"/>
          <p:nvPr/>
        </p:nvSpPr>
        <p:spPr>
          <a:xfrm>
            <a:off x="739897" y="5640381"/>
            <a:ext cx="3387553" cy="98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Desde</a:t>
            </a:r>
            <a:r>
              <a:rPr lang="en-US" sz="1600" b="1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RD$ 50,000 /</a:t>
            </a:r>
            <a:r>
              <a:rPr lang="en-US" sz="1600" b="1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proyecto</a:t>
            </a:r>
            <a:endParaRPr lang="en-US" sz="1600" b="1" dirty="0">
              <a:solidFill>
                <a:schemeClr val="bg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50000"/>
              </a:lnSpc>
            </a:pPr>
            <a:r>
              <a:rPr lang="es-US" sz="1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 valor puede superar los RD$130,000+ según la magnitud corporativa</a:t>
            </a:r>
            <a:r>
              <a:rPr lang="es-US" sz="1200" i="1" dirty="0">
                <a:solidFill>
                  <a:schemeClr val="bg1"/>
                </a:solidFill>
              </a:rPr>
              <a:t>.</a:t>
            </a:r>
            <a:endParaRPr lang="es-DO" sz="1200" i="1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C4AD3AD-BDEF-940E-4366-CD500B52C57D}"/>
              </a:ext>
            </a:extLst>
          </p:cNvPr>
          <p:cNvSpPr txBox="1"/>
          <p:nvPr/>
        </p:nvSpPr>
        <p:spPr>
          <a:xfrm>
            <a:off x="4420335" y="5637361"/>
            <a:ext cx="3387553" cy="98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Desde</a:t>
            </a:r>
            <a:r>
              <a:rPr lang="en-US" sz="1600" b="1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RD$ 8,000 - 20,000 /</a:t>
            </a:r>
            <a:r>
              <a:rPr lang="en-US" sz="1600" b="1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mes</a:t>
            </a:r>
            <a:endParaRPr lang="en-US" sz="1600" b="1" dirty="0">
              <a:solidFill>
                <a:schemeClr val="bg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50000"/>
              </a:lnSpc>
            </a:pPr>
            <a:r>
              <a:rPr lang="es-US" sz="1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variable según requerimientos y tiempo de acción. </a:t>
            </a:r>
            <a:endParaRPr lang="es-DO" sz="1200" i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CFA2B7E-35E0-990A-E10F-9E4053649C0F}"/>
              </a:ext>
            </a:extLst>
          </p:cNvPr>
          <p:cNvSpPr txBox="1"/>
          <p:nvPr/>
        </p:nvSpPr>
        <p:spPr>
          <a:xfrm>
            <a:off x="8031034" y="5640381"/>
            <a:ext cx="3387553" cy="98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Desde</a:t>
            </a:r>
            <a:r>
              <a:rPr lang="en-US" sz="1600" b="1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RD$ 85,000 /</a:t>
            </a:r>
            <a:r>
              <a:rPr lang="en-US" sz="1600" b="1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proyecto</a:t>
            </a:r>
            <a:endParaRPr lang="en-US" sz="1600" b="1" dirty="0">
              <a:solidFill>
                <a:schemeClr val="bg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50000"/>
              </a:lnSpc>
            </a:pPr>
            <a:r>
              <a:rPr lang="es-US" sz="1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 valor puede superar los RD$120,000+ según la magnitud corporativa</a:t>
            </a:r>
            <a:r>
              <a:rPr lang="es-US" sz="1200" i="1" dirty="0">
                <a:solidFill>
                  <a:schemeClr val="bg1"/>
                </a:solidFill>
              </a:rPr>
              <a:t>.</a:t>
            </a:r>
            <a:endParaRPr lang="es-DO" sz="12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57862" y="1387971"/>
            <a:ext cx="67627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1714500" y="2435721"/>
            <a:ext cx="8763000" cy="2377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Los líderes de la industria no toman decisiones basadas en intuiciones; exigen certezas. El momento de dejar de adivinar es hoy.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5400675" y="5193803"/>
            <a:ext cx="13906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Vision Metrics</a:t>
            </a:r>
            <a:endParaRPr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11B65BC-2031-2005-3341-81044C9D64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3624" y="-592950"/>
            <a:ext cx="2238376" cy="23288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1455419" y="1325909"/>
            <a:ext cx="9281160" cy="73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Descubre tu Rentabilidad Oculta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2286000" y="2247900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Hablemos sobre tu arquitectura de datos y cómo podemos convertirla en tu principal ventaja competitiva.</a:t>
            </a:r>
            <a:endParaRPr/>
          </a:p>
        </p:txBody>
      </p:sp>
      <p:pic>
        <p:nvPicPr>
          <p:cNvPr id="196" name="Google Shape;19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43050" y="3750766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2000250" y="3774578"/>
            <a:ext cx="378271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Agenda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tu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Diagnóstico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(Sin Costo)</a:t>
            </a:r>
            <a:endParaRPr dirty="0"/>
          </a:p>
        </p:txBody>
      </p:sp>
      <p:pic>
        <p:nvPicPr>
          <p:cNvPr id="198" name="Google Shape;19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24650" y="3750766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7219950" y="3774579"/>
            <a:ext cx="347791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visionmetricsrd@gmail.com</a:t>
            </a:r>
            <a:endParaRPr dirty="0"/>
          </a:p>
        </p:txBody>
      </p:sp>
      <p:pic>
        <p:nvPicPr>
          <p:cNvPr id="200" name="Google Shape;20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43050" y="4931866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2000250" y="4955678"/>
            <a:ext cx="3467101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WhatsApp Corporativo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849-534-4300</a:t>
            </a:r>
            <a:endParaRPr dirty="0"/>
          </a:p>
        </p:txBody>
      </p:sp>
      <p:sp>
        <p:nvSpPr>
          <p:cNvPr id="203" name="Google Shape;203;p20"/>
          <p:cNvSpPr txBox="1"/>
          <p:nvPr/>
        </p:nvSpPr>
        <p:spPr>
          <a:xfrm>
            <a:off x="7181850" y="4955678"/>
            <a:ext cx="3467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Vision Metrics DPV</a:t>
            </a:r>
            <a:endParaRPr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D9D41EB-709E-224E-142E-EC9BFCCC55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3624" y="-592950"/>
            <a:ext cx="2238376" cy="2328899"/>
          </a:xfrm>
          <a:prstGeom prst="rect">
            <a:avLst/>
          </a:prstGeom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6032F1C7-C48E-678E-3FF1-DCC27D2DE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7984" y="4905707"/>
            <a:ext cx="858132" cy="358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/>
          <p:nvPr/>
        </p:nvSpPr>
        <p:spPr>
          <a:xfrm>
            <a:off x="762000" y="3062287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762000" y="3837533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762000" y="571500"/>
            <a:ext cx="112014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VISION METRICS</a:t>
            </a:r>
            <a:endParaRPr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6CC6767-D46B-8BFB-4702-D89D02692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3624" y="-592950"/>
            <a:ext cx="2238376" cy="2328899"/>
          </a:xfrm>
          <a:prstGeom prst="rect">
            <a:avLst/>
          </a:prstGeom>
        </p:spPr>
      </p:pic>
      <p:pic>
        <p:nvPicPr>
          <p:cNvPr id="2050" name="Picture 2" descr="Lector y Escritor Estratégico en la Cibercultura, Inmigrantes digitales y  nativo digitales | ana victoria fernÁndez">
            <a:extLst>
              <a:ext uri="{FF2B5EF4-FFF2-40B4-BE49-F238E27FC236}">
                <a16:creationId xmlns:a16="http://schemas.microsoft.com/office/drawing/2014/main" id="{3929B849-ACC4-BBA5-EE28-62BD6F084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0889" y="4180477"/>
            <a:ext cx="7563622" cy="2416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632</Words>
  <Application>Microsoft Office PowerPoint</Application>
  <PresentationFormat>Panorámica</PresentationFormat>
  <Paragraphs>62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Calibri</vt:lpstr>
      <vt:lpstr>Urbanist</vt:lpstr>
      <vt:lpstr>Arial</vt:lpstr>
      <vt:lpstr>Urbanist Light</vt:lpstr>
      <vt:lpstr>Urbanist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Dariel Peña Vásquez</dc:creator>
  <cp:lastModifiedBy>JUANCITO PEÑA VIZCAINO</cp:lastModifiedBy>
  <cp:revision>5</cp:revision>
  <dcterms:modified xsi:type="dcterms:W3CDTF">2026-02-28T03:33:49Z</dcterms:modified>
</cp:coreProperties>
</file>